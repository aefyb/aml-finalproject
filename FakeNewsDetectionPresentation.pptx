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erriweather Light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Vidaloka"/>
      <p:regular r:id="rId33"/>
    </p:embeddedFont>
    <p:embeddedFont>
      <p:font typeface="Russo One"/>
      <p:regular r:id="rId34"/>
    </p:embeddedFont>
    <p:embeddedFont>
      <p:font typeface="Mako"/>
      <p:regular r:id="rId35"/>
    </p:embeddedFont>
    <p:embeddedFont>
      <p:font typeface="Crimson Text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9C5C66-FBB4-4931-AA54-B8F6EBEB22CA}">
  <a:tblStyle styleId="{589C5C66-FBB4-4931-AA54-B8F6EBEB22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4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33" Type="http://schemas.openxmlformats.org/officeDocument/2006/relationships/font" Target="fonts/Vidaloka-regular.fntdata"/><Relationship Id="rId32" Type="http://schemas.openxmlformats.org/officeDocument/2006/relationships/font" Target="fonts/OpenSansSemiBold-boldItalic.fntdata"/><Relationship Id="rId35" Type="http://schemas.openxmlformats.org/officeDocument/2006/relationships/font" Target="fonts/Mako-regular.fntdata"/><Relationship Id="rId34" Type="http://schemas.openxmlformats.org/officeDocument/2006/relationships/font" Target="fonts/RussoOne-regular.fntdata"/><Relationship Id="rId37" Type="http://schemas.openxmlformats.org/officeDocument/2006/relationships/font" Target="fonts/CrimsonText-bold.fntdata"/><Relationship Id="rId36" Type="http://schemas.openxmlformats.org/officeDocument/2006/relationships/font" Target="fonts/CrimsonText-regular.fntdata"/><Relationship Id="rId39" Type="http://schemas.openxmlformats.org/officeDocument/2006/relationships/font" Target="fonts/CrimsonText-boldItalic.fntdata"/><Relationship Id="rId38" Type="http://schemas.openxmlformats.org/officeDocument/2006/relationships/font" Target="fonts/CrimsonText-italic.fntdata"/><Relationship Id="rId20" Type="http://schemas.openxmlformats.org/officeDocument/2006/relationships/slide" Target="slides/slide14.xml"/><Relationship Id="rId22" Type="http://schemas.openxmlformats.org/officeDocument/2006/relationships/font" Target="fonts/MerriweatherLight-bold.fntdata"/><Relationship Id="rId21" Type="http://schemas.openxmlformats.org/officeDocument/2006/relationships/font" Target="fonts/MerriweatherLight-regular.fntdata"/><Relationship Id="rId24" Type="http://schemas.openxmlformats.org/officeDocument/2006/relationships/font" Target="fonts/MerriweatherLight-boldItalic.fntdata"/><Relationship Id="rId23" Type="http://schemas.openxmlformats.org/officeDocument/2006/relationships/font" Target="fonts/MerriweatherLight-italic.fntdata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29" Type="http://schemas.openxmlformats.org/officeDocument/2006/relationships/font" Target="fonts/OpenSans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UKGa5wvABAnSv6yKsv7cqWUYjtdr0SyqNs2fhhHSX6Q/edit?usp=sharin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https://docs.google.com/document/d/1UKGa5wvABAnSv6yKsv7cqWUYjtdr0SyqNs2fhhHSX6Q/edit?usp=sharing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a30f84533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9a30f84533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91320a05e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91320a05e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a30f8453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a30f8453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1320a05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1320a05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Caitlyn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a30f84533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9a30f84533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a30f84533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a30f8453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a30f84533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a30f84533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Caitlyn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91320a05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91320a05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Caitlyn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9a30f84533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9a30f84533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a30f8453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9a30f8453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9a30f8453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9a30f8453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ba074e24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aba074e24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bb87e52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bb87e52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9" name="Google Shape;139;p19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8" name="Google Shape;148;p20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0" name="Google Shape;170;p23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2" name="Google Shape;172;p23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4" name="Google Shape;174;p23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3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7" name="Google Shape;177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26"/>
          <p:cNvSpPr txBox="1"/>
          <p:nvPr>
            <p:ph hasCustomPrompt="1"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" name="Google Shape;201;p27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3" name="Google Shape;203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8" name="Google Shape;24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 -">
  <p:cSld name="CUSTOM_3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6" name="Google Shape;266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0" name="Google Shape;280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5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5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2" name="Google Shape;30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6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3" name="Google Shape;323;p37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4" name="Google Shape;324;p37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7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6" name="Google Shape;326;p37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7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8" name="Google Shape;328;p37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7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7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7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9" name="Google Shape;339;p38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8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1" name="Google Shape;341;p38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3" name="Google Shape;343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1" name="Google Shape;351;p3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3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3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55" name="Google Shape;355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0" name="Google Shape;370;p4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1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8" name="Google Shape;37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4" name="Google Shape;384;p4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4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2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4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2" name="Google Shape;402;p4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3" name="Google Shape;403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08" name="Google Shape;408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19" name="Google Shape;419;p4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4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3" name="Google Shape;423;p4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27" name="Google Shape;427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2" name="Google Shape;432;p4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4" name="Google Shape;434;p4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RichardRivaldo/Sentiment-Analysis?tab=readme-ov-file" TargetMode="External"/><Relationship Id="rId4" Type="http://schemas.openxmlformats.org/officeDocument/2006/relationships/hyperlink" Target="https://www.kaggle.com/code/busradeveci/fake-news-detection-with-tf-idf-bert#Fake-News-Detection-Project:-Summary-and-Evaluation" TargetMode="External"/><Relationship Id="rId9" Type="http://schemas.openxmlformats.org/officeDocument/2006/relationships/hyperlink" Target="https://theonion.com/dna-sequencing-reveals-hitler-was-type-of-fern/" TargetMode="External"/><Relationship Id="rId5" Type="http://schemas.openxmlformats.org/officeDocument/2006/relationships/hyperlink" Target="https://www.youtube.com/watch?v=qTyj2R-wcks" TargetMode="External"/><Relationship Id="rId6" Type="http://schemas.openxmlformats.org/officeDocument/2006/relationships/hyperlink" Target="https://www.nytimes.com/2025/12/01/us/hegseth-drug-boat-strike-order-venezuela.html" TargetMode="External"/><Relationship Id="rId7" Type="http://schemas.openxmlformats.org/officeDocument/2006/relationships/hyperlink" Target="https://www.nytimes.com/2025/12/01/us/politics/trump-immigration-afghan-daca.html" TargetMode="External"/><Relationship Id="rId8" Type="http://schemas.openxmlformats.org/officeDocument/2006/relationships/hyperlink" Target="https://theonion.com/researchers-determine-moon-serves-no-purpose-but-alerting-raccoons-it-safe-to-come-out/" TargetMode="External"/><Relationship Id="rId10" Type="http://schemas.openxmlformats.org/officeDocument/2006/relationships/hyperlink" Target="https://theonion.com/study-average-19th-century-american-spent-93-of-time-waving-at-trains-boat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News Detection Project</a:t>
            </a:r>
            <a:endParaRPr/>
          </a:p>
        </p:txBody>
      </p:sp>
      <p:sp>
        <p:nvSpPr>
          <p:cNvPr id="473" name="Google Shape;473;p54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Anvith, Jessica, Caitlyn, Lucy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title"/>
          </p:nvPr>
        </p:nvSpPr>
        <p:spPr>
          <a:xfrm>
            <a:off x="713225" y="445025"/>
            <a:ext cx="662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Product: Detecting Fake News</a:t>
            </a:r>
            <a:endParaRPr/>
          </a:p>
        </p:txBody>
      </p:sp>
      <p:sp>
        <p:nvSpPr>
          <p:cNvPr id="479" name="Google Shape;479;p55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Problem: </a:t>
            </a:r>
            <a:r>
              <a:rPr lang="en" sz="1400"/>
              <a:t>misinformation has become increasingly widespread, making it difficult to differentiate between real and fake news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Our Approach</a:t>
            </a:r>
            <a:r>
              <a:rPr b="1" lang="en" sz="1400"/>
              <a:t>: </a:t>
            </a:r>
            <a:r>
              <a:rPr lang="en" sz="1400"/>
              <a:t>We utilized a fake and real news dataset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Methods: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Cleaning and Preprocessing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Analysis on the 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Building the LSTM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Evaluate accuracy, predictions , recall, and f1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 testing on articles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ROC curve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LIME to understand the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Road Bumps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Conclusions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85" name="Google Shape;485;p56"/>
          <p:cNvSpPr txBox="1"/>
          <p:nvPr>
            <p:ph idx="1" type="body"/>
          </p:nvPr>
        </p:nvSpPr>
        <p:spPr>
          <a:xfrm>
            <a:off x="713225" y="1017725"/>
            <a:ext cx="41022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>
                <a:solidFill>
                  <a:schemeClr val="dk1"/>
                </a:solidFill>
              </a:rPr>
              <a:t>Kaggle </a:t>
            </a:r>
            <a:r>
              <a:rPr lang="en" sz="1300">
                <a:solidFill>
                  <a:schemeClr val="dk1"/>
                </a:solidFill>
              </a:rPr>
              <a:t>dataset: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No missing values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Removed duplicates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Contained a file for fake news and a file for real news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Columns: </a:t>
            </a:r>
            <a:r>
              <a:rPr lang="en" sz="1300">
                <a:solidFill>
                  <a:schemeClr val="dk1"/>
                </a:solidFill>
              </a:rPr>
              <a:t>title, text, subject, date, label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After combining files and duplicates, the shape was (44,689, 5)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86" name="Google Shape;48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425" y="956150"/>
            <a:ext cx="3782975" cy="2261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63" y="3332898"/>
            <a:ext cx="6814874" cy="13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</a:t>
            </a:r>
            <a:endParaRPr/>
          </a:p>
        </p:txBody>
      </p:sp>
      <p:sp>
        <p:nvSpPr>
          <p:cNvPr id="493" name="Google Shape;493;p57"/>
          <p:cNvSpPr txBox="1"/>
          <p:nvPr>
            <p:ph idx="1" type="body"/>
          </p:nvPr>
        </p:nvSpPr>
        <p:spPr>
          <a:xfrm>
            <a:off x="713250" y="1373800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/>
              <a:t>Drop Columns </a:t>
            </a:r>
            <a:r>
              <a:rPr lang="en" sz="1300"/>
              <a:t>title, subject, and date because we only used text and label for our model</a:t>
            </a:r>
            <a:endParaRPr sz="13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/>
              <a:t>LabelEncoder</a:t>
            </a:r>
            <a:r>
              <a:rPr lang="en" sz="1300"/>
              <a:t> from sklearn.preprocessing </a:t>
            </a:r>
            <a:endParaRPr sz="13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/>
              <a:t>Tokenizer</a:t>
            </a:r>
            <a:r>
              <a:rPr lang="en" sz="1300"/>
              <a:t>- converts words into integers and creates vocabulary (max vocabulary of 5000)</a:t>
            </a:r>
            <a:endParaRPr sz="13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/>
              <a:t>Padding</a:t>
            </a:r>
            <a:r>
              <a:rPr lang="en" sz="1300"/>
              <a:t>- ensures all sequences have the same length (max sequence length of 1000)</a:t>
            </a:r>
            <a:endParaRPr sz="13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300"/>
              <a:t>Split the data</a:t>
            </a:r>
            <a:r>
              <a:rPr lang="en" sz="1300"/>
              <a:t> into 80% training data, 10% validation data, and 10% test data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8"/>
          <p:cNvSpPr txBox="1"/>
          <p:nvPr>
            <p:ph type="title"/>
          </p:nvPr>
        </p:nvSpPr>
        <p:spPr>
          <a:xfrm>
            <a:off x="651475" y="242100"/>
            <a:ext cx="707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Sentiment Analysis from TextBlob Package</a:t>
            </a:r>
            <a:endParaRPr/>
          </a:p>
        </p:txBody>
      </p:sp>
      <p:sp>
        <p:nvSpPr>
          <p:cNvPr id="499" name="Google Shape;499;p58"/>
          <p:cNvSpPr txBox="1"/>
          <p:nvPr>
            <p:ph idx="1" type="body"/>
          </p:nvPr>
        </p:nvSpPr>
        <p:spPr>
          <a:xfrm>
            <a:off x="713250" y="1270425"/>
            <a:ext cx="7717500" cy="30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cleaning and removing stopwords…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Calculating polarity from sentiment analysis for fake and real news (output ranges [-1,1] with negative values indicating negative sentiment and positive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Calculating subjectivity from sentiment analysis for fake and real news (output ranges [0,1] with 0 indicating objectivity and 1 indicating subjectivity)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Polarity was neutral for both fake and real news, but fake news tends to be slightly more subjective than real news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00" name="Google Shape;50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98" y="2145227"/>
            <a:ext cx="68116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688" y="3511328"/>
            <a:ext cx="6879049" cy="6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9"/>
          <p:cNvSpPr txBox="1"/>
          <p:nvPr>
            <p:ph type="title"/>
          </p:nvPr>
        </p:nvSpPr>
        <p:spPr>
          <a:xfrm>
            <a:off x="713225" y="445025"/>
            <a:ext cx="60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Building an LSTM</a:t>
            </a:r>
            <a:endParaRPr/>
          </a:p>
        </p:txBody>
      </p:sp>
      <p:sp>
        <p:nvSpPr>
          <p:cNvPr id="507" name="Google Shape;507;p59"/>
          <p:cNvSpPr txBox="1"/>
          <p:nvPr>
            <p:ph idx="1" type="body"/>
          </p:nvPr>
        </p:nvSpPr>
        <p:spPr>
          <a:xfrm>
            <a:off x="369175" y="1272925"/>
            <a:ext cx="37950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layer accepts the sequence of integers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Embedding layer converts word indexes into 128 dimensional vector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LSTM layer </a:t>
            </a:r>
            <a:r>
              <a:rPr lang="en"/>
              <a:t>discovers</a:t>
            </a:r>
            <a:r>
              <a:rPr lang="en"/>
              <a:t> the patterns between word sequences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Dense Layer takes in 128 dimensional summary and learns non-linear patterns that are output in a 64 dimensional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Dropout layer prevents overfitting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layer is sigmoid for binary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Compiler includes ‘binary_crossentropy’ for loss, ‘adam’ for our optimizer, and accuracy for our metric </a:t>
            </a:r>
            <a:endParaRPr/>
          </a:p>
        </p:txBody>
      </p:sp>
      <p:pic>
        <p:nvPicPr>
          <p:cNvPr id="508" name="Google Shape;50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6150" y="1782401"/>
            <a:ext cx="4633776" cy="196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14" name="Google Shape;514;p60"/>
          <p:cNvSpPr txBox="1"/>
          <p:nvPr>
            <p:ph idx="1" type="body"/>
          </p:nvPr>
        </p:nvSpPr>
        <p:spPr>
          <a:xfrm>
            <a:off x="713250" y="1272925"/>
            <a:ext cx="41922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Extremely high test accuracy, precision, recall, and f1-scores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5 False Positives (labeled fake but was real)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2 False Negatives (labeled real but was fake)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Extremely Confident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data must be extremely differentiable or there may be a data leakage</a:t>
            </a:r>
            <a:endParaRPr sz="1400"/>
          </a:p>
        </p:txBody>
      </p:sp>
      <p:pic>
        <p:nvPicPr>
          <p:cNvPr id="515" name="Google Shape;5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376" y="714625"/>
            <a:ext cx="3389376" cy="32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000" y="4093621"/>
            <a:ext cx="5737749" cy="4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"/>
          <p:cNvSpPr txBox="1"/>
          <p:nvPr>
            <p:ph type="title"/>
          </p:nvPr>
        </p:nvSpPr>
        <p:spPr>
          <a:xfrm>
            <a:off x="713225" y="445025"/>
            <a:ext cx="709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Receiver</a:t>
            </a:r>
            <a:r>
              <a:rPr lang="en"/>
              <a:t> Operating Characteristic Curve</a:t>
            </a:r>
            <a:endParaRPr/>
          </a:p>
        </p:txBody>
      </p:sp>
      <p:sp>
        <p:nvSpPr>
          <p:cNvPr id="522" name="Google Shape;522;p61"/>
          <p:cNvSpPr txBox="1"/>
          <p:nvPr>
            <p:ph idx="1" type="body"/>
          </p:nvPr>
        </p:nvSpPr>
        <p:spPr>
          <a:xfrm>
            <a:off x="386800" y="1272925"/>
            <a:ext cx="39210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ROC compares False Positive Rate against True Positive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shape of the ROC curve shows us that the test data is very easily </a:t>
            </a:r>
            <a:r>
              <a:rPr lang="en"/>
              <a:t>separable</a:t>
            </a:r>
            <a:r>
              <a:rPr lang="en"/>
              <a:t> for the model and there is no overlap between positive and negative outcomes.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shows there is a threshold where all true positives are identified and there are no false positive values.</a:t>
            </a:r>
            <a:endParaRPr/>
          </a:p>
        </p:txBody>
      </p:sp>
      <p:pic>
        <p:nvPicPr>
          <p:cNvPr id="523" name="Google Shape;52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175" y="1272926"/>
            <a:ext cx="3658949" cy="306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2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on Real Examples</a:t>
            </a:r>
            <a:endParaRPr/>
          </a:p>
        </p:txBody>
      </p:sp>
      <p:graphicFrame>
        <p:nvGraphicFramePr>
          <p:cNvPr id="529" name="Google Shape;529;p62"/>
          <p:cNvGraphicFramePr/>
          <p:nvPr/>
        </p:nvGraphicFramePr>
        <p:xfrm>
          <a:off x="8191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{589C5C66-FBB4-4931-AA54-B8F6EBEB22CA}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 of article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Label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Label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“Hegseth Ordered a Lethal Attack but Not the Killing of Survivors, Officials Say”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 York Times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 Trump Deepens Immigration Crackdown, Even Long-Held Exceptions Disappear”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 York Times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“Researchers Determine Moon Serves No Purpose But Alerting Racoons It Safe To Come Out”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Onion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Fake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Fake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“Study: Average 19th century American Spent 93% of time Waving At Trains, Boats”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Onion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Fake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“DNA Sequencing Reveals Hitler Was a Type of Fern”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Onion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Fake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Fake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LIME Text Explainer</a:t>
            </a:r>
            <a:endParaRPr/>
          </a:p>
        </p:txBody>
      </p:sp>
      <p:sp>
        <p:nvSpPr>
          <p:cNvPr id="535" name="Google Shape;535;p63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Lime Explainer can capture how individual words contribute to </a:t>
            </a:r>
            <a:r>
              <a:rPr lang="en" sz="1400"/>
              <a:t>prediction</a:t>
            </a:r>
            <a:r>
              <a:rPr lang="en" sz="1400"/>
              <a:t>, but the semantic patterns that are not shown in LIME contribute heavily to prediction as well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model was able to very confidently detect the fabricated </a:t>
            </a:r>
            <a:r>
              <a:rPr lang="en" sz="1400"/>
              <a:t>statement</a:t>
            </a:r>
            <a:r>
              <a:rPr lang="en" sz="1400"/>
              <a:t> and the explainer shows how different words contributed to the prediction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6" name="Google Shape;53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825" y="2571750"/>
            <a:ext cx="5862357" cy="20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 Bumps</a:t>
            </a:r>
            <a:endParaRPr/>
          </a:p>
        </p:txBody>
      </p:sp>
      <p:sp>
        <p:nvSpPr>
          <p:cNvPr id="542" name="Google Shape;542;p64"/>
          <p:cNvSpPr txBox="1"/>
          <p:nvPr>
            <p:ph idx="1" type="body"/>
          </p:nvPr>
        </p:nvSpPr>
        <p:spPr>
          <a:xfrm>
            <a:off x="713250" y="1272925"/>
            <a:ext cx="45978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Situation: </a:t>
            </a:r>
            <a:r>
              <a:rPr lang="en" sz="1400"/>
              <a:t>Our original dataset was a fake news dataset from kaggle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Attempted to build a LSTM model and a RoBERTa model and both had low scoring accuracy (both maxing out at 50% accuracy)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The dataset was synthetically generated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Text was randomly generated words and sentences had no meaning, making it hard for the models to find patterns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Solution: </a:t>
            </a:r>
            <a:r>
              <a:rPr lang="en" sz="1400"/>
              <a:t>Finding a new dataset with real data resulting in accurate findings</a:t>
            </a:r>
            <a:endParaRPr sz="1400"/>
          </a:p>
        </p:txBody>
      </p:sp>
      <p:pic>
        <p:nvPicPr>
          <p:cNvPr id="543" name="Google Shape;54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1904" y="1017725"/>
            <a:ext cx="1914050" cy="315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5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549" name="Google Shape;549;p65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200"/>
              <a:t>Quality Data is important</a:t>
            </a:r>
            <a:endParaRPr sz="12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Originally chose a dataset in which the models were not able to determine patterns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Our next dataset caused our model to predict extremely high accuracy, but did not hold up on real-world articles</a:t>
            </a:r>
            <a:endParaRPr sz="11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200"/>
              <a:t>Our dataset included a lot of articles with political contents, but news articles can contain other topics including trends, celebrities, etc.</a:t>
            </a:r>
            <a:endParaRPr sz="12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200"/>
              <a:t>Our product needs more data to train on and higher quality data, which is difficult to find on Kaggle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Future Work:</a:t>
            </a:r>
            <a:r>
              <a:rPr lang="en" sz="1200"/>
              <a:t> using datasets with greater variety of contents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/>
          <p:nvPr>
            <p:ph type="title"/>
          </p:nvPr>
        </p:nvSpPr>
        <p:spPr>
          <a:xfrm>
            <a:off x="713250" y="3215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555" name="Google Shape;555;p66"/>
          <p:cNvSpPr txBox="1"/>
          <p:nvPr>
            <p:ph idx="1" type="body"/>
          </p:nvPr>
        </p:nvSpPr>
        <p:spPr>
          <a:xfrm>
            <a:off x="713250" y="796200"/>
            <a:ext cx="77175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Sentiment Analysis Resources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Rivaldo, R. (2020).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Sentiment-Analysis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[Code repository]. GitHub.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https://github.com/RichardRivaldo/Sentiment-Analysis?tab=readme-ov-file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Devêci, B. (2025, May).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Fake-News Detection with TF-IDF &amp; BERT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[Notebook]. Kaggle.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https://www.kaggle.com/code/busradeveci/fake-news-detection-with-tf-idf-bert#Fake-News-Detection-Project:-Summary-and-Evaluation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(Sentdex). (2018, February 27).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News Detection with TF-IDF &amp; BERT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[Video]. YouTube.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https://www.youtube.com/watch?v=qTyj2R-wcks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LIME Text Explainer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marcotcr. (2021). LIME: Explaining the predictions of any machine learning classifier [Code repository]. GitHub. https://github.com/marcotcr/lime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Articles Used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 York Times. (2025, December 1).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Hegseth ordered a lethal strike on suspected drug-smuggling boat from Venezuela, U.S. officials say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New York Times.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https://www.nytimes.com/2025/12/01/us/hegseth-drug-boat-strike-order-venezuela.html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 York Times. (2025, December 1).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Trump administration signals hard-line shift on immigration for Afghan DACA recipients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New York Times.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https://www.nytimes.com/2025/12/01/us/politics/trump-immigration-afghan-daca.html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Onion. (2025, November 28).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Researchers determine moon serves no purpose but alerting raccoons it’s safe to come out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Onion.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https://theonion.com/researchers-determine-moon-serves-no-purpose-but-alerting-raccoons-it-safe-to-come-out/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Onion. (2025,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November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DNA sequencing reveals Hitler was type of fern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Onion.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https://theonion.com/dna-sequencing-reveals-hitler-was-type-of-fern/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Onion. (2025, November 25).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Study: average 19th-century American spent 93% of time waving at trains, boats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Onion.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https://theonion.com/study-average-19th-century-american-spent-93-of-time-waving-at-trains-boats/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type="title"/>
          </p:nvPr>
        </p:nvSpPr>
        <p:spPr>
          <a:xfrm>
            <a:off x="713250" y="7002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 You!</a:t>
            </a:r>
            <a:endParaRPr sz="9600"/>
          </a:p>
        </p:txBody>
      </p:sp>
      <p:sp>
        <p:nvSpPr>
          <p:cNvPr id="561" name="Google Shape;561;p67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7"/>
          <p:cNvSpPr txBox="1"/>
          <p:nvPr/>
        </p:nvSpPr>
        <p:spPr>
          <a:xfrm>
            <a:off x="4955550" y="4107025"/>
            <a:ext cx="347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 you have any questions?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